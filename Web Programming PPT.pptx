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68" r:id="rId2"/>
    <p:sldId id="277" r:id="rId3"/>
    <p:sldId id="269" r:id="rId4"/>
    <p:sldId id="279" r:id="rId5"/>
    <p:sldId id="278" r:id="rId6"/>
    <p:sldId id="280" r:id="rId7"/>
    <p:sldId id="275" r:id="rId8"/>
    <p:sldId id="272" r:id="rId9"/>
    <p:sldId id="276" r:id="rId10"/>
    <p:sldId id="27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93" d="100"/>
          <a:sy n="93" d="100"/>
        </p:scale>
        <p:origin x="77" y="12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smtClean="0"/>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96864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smtClean="0"/>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smtClean="0"/>
              <a:t>‹#›</a:t>
            </a:fld>
            <a:endParaRPr lang="en-US" dirty="0"/>
          </a:p>
        </p:txBody>
      </p:sp>
    </p:spTree>
    <p:extLst>
      <p:ext uri="{BB962C8B-B14F-4D97-AF65-F5344CB8AC3E}">
        <p14:creationId xmlns:p14="http://schemas.microsoft.com/office/powerpoint/2010/main" val="804008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smtClean="0"/>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8339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smtClean="0"/>
              <a:t>10/13/2026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615914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smtClean="0"/>
              <a:t>10/13/2026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7807778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smtClean="0"/>
              <a:t>10/13/2026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3391131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smtClean="0"/>
              <a:t>10/13/2026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3503467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2ABBEA6-7C60-4B02-AE87-00D78D8422AF}" type="datetimeFigureOut">
              <a:rPr lang="en-US" smtClean="0"/>
              <a:t>10/13/2026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252735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CAD897-D46E-4AD2-BD9B-49DD3E640873}" type="datetimeFigureOut">
              <a:rPr lang="en-US" smtClean="0"/>
              <a:t>10/13/2026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6411693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2D6473-DF6D-4702-B328-E0DD40540A4E}" type="datetimeFigureOut">
              <a:rPr lang="en-US" smtClean="0"/>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591495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6F7E3A-B166-407D-9866-32884E7D5B37}" type="datetimeFigureOut">
              <a:rPr lang="en-US" smtClean="0"/>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610552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8624D31-43A5-475A-80CF-332C9F6DCF35}" type="datetimeFigureOut">
              <a:rPr lang="en-US" smtClean="0"/>
              <a:t>10/13/2026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858505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hyperlink" Target="https://learning.postman.com/docs/" TargetMode="External"/><Relationship Id="rId3" Type="http://schemas.openxmlformats.org/officeDocument/2006/relationships/hyperlink" Target="https://docs.spring.io/spring-boot/" TargetMode="External"/><Relationship Id="rId7" Type="http://schemas.openxmlformats.org/officeDocument/2006/relationships/hyperlink" Target="https://getbootstrap.com/docs/" TargetMode="External"/><Relationship Id="rId2" Type="http://schemas.openxmlformats.org/officeDocument/2006/relationships/hyperlink" Target="https://docs.oracle.com/en/java/" TargetMode="External"/><Relationship Id="rId1" Type="http://schemas.openxmlformats.org/officeDocument/2006/relationships/slideLayout" Target="../slideLayouts/slideLayout7.xml"/><Relationship Id="rId6" Type="http://schemas.openxmlformats.org/officeDocument/2006/relationships/hyperlink" Target="https://developer.mozilla.org/" TargetMode="External"/><Relationship Id="rId5" Type="http://schemas.openxmlformats.org/officeDocument/2006/relationships/hyperlink" Target="https://react.dev/" TargetMode="External"/><Relationship Id="rId4" Type="http://schemas.openxmlformats.org/officeDocument/2006/relationships/hyperlink" Target="https://dev.mysql.com/doc/" TargetMode="External"/><Relationship Id="rId9" Type="http://schemas.openxmlformats.org/officeDocument/2006/relationships/hyperlink" Target="https://docs.github.co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60727-A74A-697F-1F9F-BAD3537676BD}"/>
              </a:ext>
            </a:extLst>
          </p:cNvPr>
          <p:cNvSpPr>
            <a:spLocks noGrp="1"/>
          </p:cNvSpPr>
          <p:nvPr>
            <p:ph type="title" idx="4294967295"/>
          </p:nvPr>
        </p:nvSpPr>
        <p:spPr>
          <a:xfrm>
            <a:off x="486031" y="1141562"/>
            <a:ext cx="10058400" cy="563562"/>
          </a:xfrm>
        </p:spPr>
        <p:txBody>
          <a:bodyPr>
            <a:normAutofit/>
          </a:bodyPr>
          <a:lstStyle/>
          <a:p>
            <a:pPr algn="ctr"/>
            <a:r>
              <a:rPr lang="en-US" sz="3500" b="1" dirty="0">
                <a:latin typeface="Times New Roman"/>
                <a:cs typeface="Times New Roman"/>
              </a:rPr>
              <a:t>WEB PROGRAMMING</a:t>
            </a:r>
          </a:p>
        </p:txBody>
      </p:sp>
      <p:pic>
        <p:nvPicPr>
          <p:cNvPr id="5" name="Picture 4">
            <a:extLst>
              <a:ext uri="{FF2B5EF4-FFF2-40B4-BE49-F238E27FC236}">
                <a16:creationId xmlns:a16="http://schemas.microsoft.com/office/drawing/2014/main" id="{158325E9-576F-8D91-C086-6DF2FB4DA219}"/>
              </a:ext>
            </a:extLst>
          </p:cNvPr>
          <p:cNvPicPr>
            <a:picLocks noChangeAspect="1"/>
          </p:cNvPicPr>
          <p:nvPr/>
        </p:nvPicPr>
        <p:blipFill>
          <a:blip r:embed="rId2"/>
          <a:stretch>
            <a:fillRect/>
          </a:stretch>
        </p:blipFill>
        <p:spPr>
          <a:xfrm>
            <a:off x="486031" y="210344"/>
            <a:ext cx="3244850" cy="774700"/>
          </a:xfrm>
          <a:prstGeom prst="rect">
            <a:avLst/>
          </a:prstGeom>
        </p:spPr>
      </p:pic>
      <p:sp>
        <p:nvSpPr>
          <p:cNvPr id="6" name="TextBox 5">
            <a:extLst>
              <a:ext uri="{FF2B5EF4-FFF2-40B4-BE49-F238E27FC236}">
                <a16:creationId xmlns:a16="http://schemas.microsoft.com/office/drawing/2014/main" id="{2221226D-951B-8E60-AD8E-9AD77CC168FA}"/>
              </a:ext>
            </a:extLst>
          </p:cNvPr>
          <p:cNvSpPr txBox="1"/>
          <p:nvPr/>
        </p:nvSpPr>
        <p:spPr>
          <a:xfrm>
            <a:off x="1989198" y="2090172"/>
            <a:ext cx="7863256" cy="2677656"/>
          </a:xfrm>
          <a:prstGeom prst="rect">
            <a:avLst/>
          </a:prstGeom>
          <a:noFill/>
        </p:spPr>
        <p:txBody>
          <a:bodyPr wrap="square" rtlCol="0">
            <a:spAutoFit/>
          </a:bodyPr>
          <a:lstStyle/>
          <a:p>
            <a:pPr>
              <a:lnSpc>
                <a:spcPct val="150000"/>
              </a:lnSpc>
            </a:pPr>
            <a:r>
              <a:rPr lang="en-US" sz="2400" dirty="0">
                <a:latin typeface="Times New Roman" panose="02020603050405020304" pitchFamily="18" charset="0"/>
                <a:cs typeface="Times New Roman" panose="02020603050405020304" pitchFamily="18" charset="0"/>
              </a:rPr>
              <a:t>Name : </a:t>
            </a:r>
            <a:r>
              <a:rPr lang="en-US" sz="2400" dirty="0" err="1">
                <a:latin typeface="Times New Roman" panose="02020603050405020304" pitchFamily="18" charset="0"/>
                <a:cs typeface="Times New Roman" panose="02020603050405020304" pitchFamily="18" charset="0"/>
              </a:rPr>
              <a:t>T.Rathinavel</a:t>
            </a:r>
            <a:endParaRPr lang="en-US" sz="2400" dirty="0">
              <a:latin typeface="Times New Roman" panose="02020603050405020304" pitchFamily="18" charset="0"/>
              <a:cs typeface="Times New Roman" panose="02020603050405020304" pitchFamily="18" charset="0"/>
            </a:endParaRPr>
          </a:p>
          <a:p>
            <a:pPr>
              <a:lnSpc>
                <a:spcPct val="150000"/>
              </a:lnSpc>
            </a:pPr>
            <a:r>
              <a:rPr lang="en-US" sz="2400" dirty="0">
                <a:latin typeface="Times New Roman" panose="02020603050405020304" pitchFamily="18" charset="0"/>
                <a:cs typeface="Times New Roman" panose="02020603050405020304" pitchFamily="18" charset="0"/>
              </a:rPr>
              <a:t>Roll No: 240701423</a:t>
            </a:r>
          </a:p>
          <a:p>
            <a:pPr>
              <a:lnSpc>
                <a:spcPct val="150000"/>
              </a:lnSpc>
            </a:pPr>
            <a:r>
              <a:rPr lang="en-US" sz="2400" dirty="0">
                <a:latin typeface="Times New Roman" panose="02020603050405020304" pitchFamily="18" charset="0"/>
                <a:cs typeface="Times New Roman" panose="02020603050405020304" pitchFamily="18" charset="0"/>
              </a:rPr>
              <a:t>Dept:  Computer Science &amp; Engineering</a:t>
            </a:r>
          </a:p>
          <a:p>
            <a:pPr>
              <a:lnSpc>
                <a:spcPct val="150000"/>
              </a:lnSpc>
            </a:pPr>
            <a:r>
              <a:rPr lang="en-US" sz="2400" dirty="0">
                <a:latin typeface="Times New Roman" panose="02020603050405020304" pitchFamily="18" charset="0"/>
                <a:cs typeface="Times New Roman" panose="02020603050405020304" pitchFamily="18" charset="0"/>
              </a:rPr>
              <a:t>Project title: Evaluation of Academic Performance</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20935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E5D53-F492-4AF9-7F6A-5B4136BE9F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6BABF5-54C5-A9A4-D22B-6782DA6585E9}"/>
              </a:ext>
            </a:extLst>
          </p:cNvPr>
          <p:cNvSpPr>
            <a:spLocks noGrp="1"/>
          </p:cNvSpPr>
          <p:nvPr>
            <p:ph type="title" idx="4294967295"/>
          </p:nvPr>
        </p:nvSpPr>
        <p:spPr>
          <a:xfrm>
            <a:off x="365761" y="258248"/>
            <a:ext cx="10058400" cy="563562"/>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ABSTRACT</a:t>
            </a:r>
          </a:p>
        </p:txBody>
      </p:sp>
      <p:sp>
        <p:nvSpPr>
          <p:cNvPr id="4" name="TextBox 3">
            <a:extLst>
              <a:ext uri="{FF2B5EF4-FFF2-40B4-BE49-F238E27FC236}">
                <a16:creationId xmlns:a16="http://schemas.microsoft.com/office/drawing/2014/main" id="{D94E03E1-CBC6-A6A0-C710-A3FD08881DF4}"/>
              </a:ext>
            </a:extLst>
          </p:cNvPr>
          <p:cNvSpPr txBox="1"/>
          <p:nvPr/>
        </p:nvSpPr>
        <p:spPr>
          <a:xfrm>
            <a:off x="365761" y="1327559"/>
            <a:ext cx="10738844" cy="3782061"/>
          </a:xfrm>
          <a:prstGeom prst="rect">
            <a:avLst/>
          </a:prstGeom>
          <a:noFill/>
        </p:spPr>
        <p:txBody>
          <a:bodyPr wrap="square">
            <a:spAutoFit/>
          </a:bodyPr>
          <a:lstStyle/>
          <a:p>
            <a:pPr marL="285750" indent="-285750" algn="just">
              <a:lnSpc>
                <a:spcPct val="150000"/>
              </a:lnSpc>
              <a:buClr>
                <a:srgbClr val="C00000"/>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Evaluation of Academic Performance System is a web-based application designed to evaluate students' academic progress according to the minimum academic requirements defined by their degree programs.</a:t>
            </a:r>
          </a:p>
          <a:p>
            <a:pPr marL="285750" indent="-285750" algn="just">
              <a:lnSpc>
                <a:spcPct val="150000"/>
              </a:lnSpc>
              <a:buClr>
                <a:srgbClr val="C00000"/>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system analyzes the student's Overall CGPA, Major CGPA, course completion status, and individual course grades to determine their academic standing.</a:t>
            </a:r>
          </a:p>
          <a:p>
            <a:pPr marL="285750" indent="-285750" algn="just">
              <a:lnSpc>
                <a:spcPct val="150000"/>
              </a:lnSpc>
              <a:buClr>
                <a:srgbClr val="C00000"/>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evaluation is performed annually based on predefined academic regulations. Depending on the results, students are classified into categories such as Good Standing, Academic Warning, Continue in Alternate, or Dismissed from Program. </a:t>
            </a:r>
          </a:p>
          <a:p>
            <a:pPr marL="285750" indent="-285750" algn="just">
              <a:lnSpc>
                <a:spcPct val="150000"/>
              </a:lnSpc>
              <a:buClr>
                <a:srgbClr val="C00000"/>
              </a:buCl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system helps academic administrators monitor student performance, identify students who need academic support, and make consistent decisions. </a:t>
            </a:r>
          </a:p>
        </p:txBody>
      </p:sp>
    </p:spTree>
    <p:extLst>
      <p:ext uri="{BB962C8B-B14F-4D97-AF65-F5344CB8AC3E}">
        <p14:creationId xmlns:p14="http://schemas.microsoft.com/office/powerpoint/2010/main" val="33698012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60727-A74A-697F-1F9F-BAD3537676BD}"/>
              </a:ext>
            </a:extLst>
          </p:cNvPr>
          <p:cNvSpPr>
            <a:spLocks noGrp="1"/>
          </p:cNvSpPr>
          <p:nvPr>
            <p:ph type="title" idx="4294967295"/>
          </p:nvPr>
        </p:nvSpPr>
        <p:spPr>
          <a:xfrm>
            <a:off x="518982" y="250297"/>
            <a:ext cx="10058400" cy="563562"/>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PROBLEM STATEMENT</a:t>
            </a:r>
          </a:p>
        </p:txBody>
      </p:sp>
      <p:sp>
        <p:nvSpPr>
          <p:cNvPr id="6" name="TextBox 5">
            <a:extLst>
              <a:ext uri="{FF2B5EF4-FFF2-40B4-BE49-F238E27FC236}">
                <a16:creationId xmlns:a16="http://schemas.microsoft.com/office/drawing/2014/main" id="{AC06F664-B06E-8720-72BA-2CC5D1AADC7D}"/>
              </a:ext>
            </a:extLst>
          </p:cNvPr>
          <p:cNvSpPr txBox="1"/>
          <p:nvPr/>
        </p:nvSpPr>
        <p:spPr>
          <a:xfrm>
            <a:off x="518981" y="1001570"/>
            <a:ext cx="10379677" cy="4613058"/>
          </a:xfrm>
          <a:prstGeom prst="rect">
            <a:avLst/>
          </a:prstGeom>
          <a:noFill/>
        </p:spPr>
        <p:txBody>
          <a:bodyPr wrap="square">
            <a:spAutoFit/>
          </a:bodyPr>
          <a:lstStyle/>
          <a:p>
            <a:pPr marL="285750" indent="-285750">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Educational institutions need an efficient and reliable method to evaluate students' academic performance according to the academic regulations of their degree programs. </a:t>
            </a:r>
          </a:p>
          <a:p>
            <a:pPr marL="285750" indent="-285750">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Manual evaluation of Overall CGPA, Major CGPA, course completion, and individual course grades can be time-consuming and may lead to calculation errors, inconsistent decisions, and delays in identifying students who require academic support.</a:t>
            </a:r>
          </a:p>
          <a:p>
            <a:pPr marL="285750" indent="-285750">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proposed Evaluation of Academic Performance System aims to automate the annual evaluation process by comparing students' academic records with predefined program requirements.</a:t>
            </a:r>
          </a:p>
          <a:p>
            <a:pPr marL="285750" indent="-285750">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 Based on the evaluation results, the system classifies students into categories such as Good Standing, Academic Warning, Continue in Alternate, or Dismissed from Program. </a:t>
            </a:r>
          </a:p>
          <a:p>
            <a:pPr marL="285750" indent="-285750">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system also provides transparent evaluation results, maintains academic history, and supports administrators in making consistent, regulation-based academic decisions.</a:t>
            </a:r>
          </a:p>
        </p:txBody>
      </p:sp>
    </p:spTree>
    <p:extLst>
      <p:ext uri="{BB962C8B-B14F-4D97-AF65-F5344CB8AC3E}">
        <p14:creationId xmlns:p14="http://schemas.microsoft.com/office/powerpoint/2010/main" val="278240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C044A-5012-16FE-5E89-9E7AA80315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EA1C6D-FDDE-AB28-17BD-C7614BC78782}"/>
              </a:ext>
            </a:extLst>
          </p:cNvPr>
          <p:cNvSpPr>
            <a:spLocks noGrp="1"/>
          </p:cNvSpPr>
          <p:nvPr>
            <p:ph type="title" idx="4294967295"/>
          </p:nvPr>
        </p:nvSpPr>
        <p:spPr>
          <a:xfrm>
            <a:off x="593125" y="252690"/>
            <a:ext cx="10058400" cy="563562"/>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PROPOSED SYSTEM</a:t>
            </a:r>
          </a:p>
        </p:txBody>
      </p:sp>
      <p:sp>
        <p:nvSpPr>
          <p:cNvPr id="4" name="TextBox 3">
            <a:extLst>
              <a:ext uri="{FF2B5EF4-FFF2-40B4-BE49-F238E27FC236}">
                <a16:creationId xmlns:a16="http://schemas.microsoft.com/office/drawing/2014/main" id="{4824AB5B-4836-08FD-5D08-A97E22995602}"/>
              </a:ext>
            </a:extLst>
          </p:cNvPr>
          <p:cNvSpPr txBox="1"/>
          <p:nvPr/>
        </p:nvSpPr>
        <p:spPr>
          <a:xfrm>
            <a:off x="928403" y="879475"/>
            <a:ext cx="10143251" cy="5444054"/>
          </a:xfrm>
          <a:prstGeom prst="rect">
            <a:avLst/>
          </a:prstGeom>
          <a:noFill/>
        </p:spPr>
        <p:txBody>
          <a:bodyPr wrap="square">
            <a:spAutoFit/>
          </a:bodyPr>
          <a:lstStyle/>
          <a:p>
            <a:pPr>
              <a:lnSpc>
                <a:spcPct val="150000"/>
              </a:lnSpc>
            </a:pPr>
            <a:r>
              <a:rPr lang="en-US" dirty="0">
                <a:latin typeface="Times New Roman" panose="02020603050405020304" pitchFamily="18" charset="0"/>
                <a:cs typeface="Times New Roman" panose="02020603050405020304" pitchFamily="18" charset="0"/>
              </a:rPr>
              <a:t>The proposed system automates the academic evaluation process through the following modules:</a:t>
            </a:r>
          </a:p>
          <a:p>
            <a:pPr marL="285750" lvl="0" indent="-285750">
              <a:lnSpc>
                <a:spcPct val="150000"/>
              </a:lnSpc>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Student Information Management</a:t>
            </a:r>
            <a:r>
              <a:rPr lang="en-US" dirty="0">
                <a:latin typeface="Times New Roman" panose="02020603050405020304" pitchFamily="18" charset="0"/>
                <a:cs typeface="Times New Roman" panose="02020603050405020304" pitchFamily="18" charset="0"/>
              </a:rPr>
              <a:t>: Store student details, degree programs, academic records, and course information.</a:t>
            </a:r>
          </a:p>
          <a:p>
            <a:pPr marL="285750" lvl="0" indent="-285750">
              <a:lnSpc>
                <a:spcPct val="150000"/>
              </a:lnSpc>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Academic Rules Configuration</a:t>
            </a:r>
            <a:r>
              <a:rPr lang="en-US" dirty="0">
                <a:latin typeface="Times New Roman" panose="02020603050405020304" pitchFamily="18" charset="0"/>
                <a:cs typeface="Times New Roman" panose="02020603050405020304" pitchFamily="18" charset="0"/>
              </a:rPr>
              <a:t>: Allow authorized administrators to define program-specific minimum CGPA requirements, course completion criteria, and academic status rules.</a:t>
            </a:r>
          </a:p>
          <a:p>
            <a:pPr marL="285750" lvl="0" indent="-285750">
              <a:lnSpc>
                <a:spcPct val="150000"/>
              </a:lnSpc>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Performance Evaluation Engine</a:t>
            </a:r>
            <a:r>
              <a:rPr lang="en-US" dirty="0">
                <a:latin typeface="Times New Roman" panose="02020603050405020304" pitchFamily="18" charset="0"/>
                <a:cs typeface="Times New Roman" panose="02020603050405020304" pitchFamily="18" charset="0"/>
              </a:rPr>
              <a:t>: Compare Overall CGPA, Major CGPA, and course-level results against the configured requirements.</a:t>
            </a:r>
          </a:p>
          <a:p>
            <a:pPr marL="285750" lvl="0" indent="-285750">
              <a:lnSpc>
                <a:spcPct val="150000"/>
              </a:lnSpc>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Academic Status Classification</a:t>
            </a:r>
            <a:r>
              <a:rPr lang="en-US" dirty="0">
                <a:latin typeface="Times New Roman" panose="02020603050405020304" pitchFamily="18" charset="0"/>
                <a:cs typeface="Times New Roman" panose="02020603050405020304" pitchFamily="18" charset="0"/>
              </a:rPr>
              <a:t>: Assign an appropriate status based on institutional regulations.</a:t>
            </a:r>
          </a:p>
          <a:p>
            <a:pPr marL="285750" lvl="0" indent="-285750">
              <a:lnSpc>
                <a:spcPct val="150000"/>
              </a:lnSpc>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Dashboard and Reporting</a:t>
            </a:r>
            <a:r>
              <a:rPr lang="en-US" dirty="0">
                <a:latin typeface="Times New Roman" panose="02020603050405020304" pitchFamily="18" charset="0"/>
                <a:cs typeface="Times New Roman" panose="02020603050405020304" pitchFamily="18" charset="0"/>
              </a:rPr>
              <a:t>: Display academic results, performance summaries, unmet requirements, and annual reports.</a:t>
            </a:r>
          </a:p>
          <a:p>
            <a:pPr marL="285750" lvl="0" indent="-285750">
              <a:lnSpc>
                <a:spcPct val="150000"/>
              </a:lnSpc>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Academic History Management</a:t>
            </a:r>
            <a:r>
              <a:rPr lang="en-US" dirty="0">
                <a:latin typeface="Times New Roman" panose="02020603050405020304" pitchFamily="18" charset="0"/>
                <a:cs typeface="Times New Roman" panose="02020603050405020304" pitchFamily="18" charset="0"/>
              </a:rPr>
              <a:t>: Store previous evaluations to track student progress across academic years.</a:t>
            </a:r>
          </a:p>
          <a:p>
            <a:pPr>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27839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A3CBA-A179-F6EE-9C11-FA68BF0960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395BE3-DAED-9DDD-C46E-05EF4C92EE82}"/>
              </a:ext>
            </a:extLst>
          </p:cNvPr>
          <p:cNvSpPr>
            <a:spLocks noGrp="1"/>
          </p:cNvSpPr>
          <p:nvPr>
            <p:ph type="title" idx="4294967295"/>
          </p:nvPr>
        </p:nvSpPr>
        <p:spPr>
          <a:xfrm>
            <a:off x="1524000" y="213361"/>
            <a:ext cx="8534400" cy="609600"/>
          </a:xfrm>
        </p:spPr>
        <p:txBody>
          <a:bodyPr>
            <a:normAutofit fontScale="90000"/>
          </a:bodyPr>
          <a:lstStyle/>
          <a:p>
            <a:pPr algn="ctr"/>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OBJECTIVES</a:t>
            </a:r>
          </a:p>
        </p:txBody>
      </p:sp>
      <p:sp>
        <p:nvSpPr>
          <p:cNvPr id="4" name="TextBox 3">
            <a:extLst>
              <a:ext uri="{FF2B5EF4-FFF2-40B4-BE49-F238E27FC236}">
                <a16:creationId xmlns:a16="http://schemas.microsoft.com/office/drawing/2014/main" id="{23A6BA1F-2D5B-92DE-CF33-371131898BD3}"/>
              </a:ext>
            </a:extLst>
          </p:cNvPr>
          <p:cNvSpPr txBox="1"/>
          <p:nvPr/>
        </p:nvSpPr>
        <p:spPr>
          <a:xfrm>
            <a:off x="967672" y="1177188"/>
            <a:ext cx="10668000" cy="4197559"/>
          </a:xfrm>
          <a:prstGeom prst="rect">
            <a:avLst/>
          </a:prstGeom>
          <a:noFill/>
        </p:spPr>
        <p:txBody>
          <a:bodyPr wrap="square">
            <a:spAutoFit/>
          </a:bodyPr>
          <a:lstStyle/>
          <a:p>
            <a:pPr marL="285750" lvl="0" indent="-285750">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To automate the annual evaluation of students' academic performance.</a:t>
            </a:r>
          </a:p>
          <a:p>
            <a:pPr marL="285750" lvl="0" indent="-285750">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To compare Overall CGPA and Major CGPA with degree-specific minimum requirements.</a:t>
            </a:r>
          </a:p>
          <a:p>
            <a:pPr marL="285750" lvl="0" indent="-285750">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To evaluate course completion and individual course grades.</a:t>
            </a:r>
          </a:p>
          <a:p>
            <a:pPr marL="285750" lvl="0" indent="-285750">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To classify students into Good Standing, Academic Warning, Continue in Alternate, or Dismissed from Program.</a:t>
            </a:r>
          </a:p>
          <a:p>
            <a:pPr marL="285750" lvl="0" indent="-285750">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To identify students who need academic counseling or additional support.</a:t>
            </a:r>
          </a:p>
          <a:p>
            <a:pPr marL="285750" lvl="0" indent="-285750">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To improve the accuracy, consistency, and transparency of evaluation decisions.</a:t>
            </a:r>
          </a:p>
          <a:p>
            <a:pPr marL="285750" lvl="0" indent="-285750">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To maintain secure academic records and historical evaluation reports.</a:t>
            </a:r>
          </a:p>
          <a:p>
            <a:pPr marL="285750" lvl="0" indent="-285750">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To help administrators make informed decisions based on predefined academic regulations.</a:t>
            </a:r>
          </a:p>
          <a:p>
            <a:pPr marL="285750" indent="-285750">
              <a:lnSpc>
                <a:spcPct val="150000"/>
              </a:lnSpc>
              <a:buFont typeface="Wingdings" panose="05000000000000000000" pitchFamily="2" charset="2"/>
              <a:buChar char="v"/>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87241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3437F-705D-4099-987C-3938C02EB06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3607EBF-A9FD-7CF0-CB2D-B93CD8DA3269}"/>
              </a:ext>
            </a:extLst>
          </p:cNvPr>
          <p:cNvSpPr txBox="1"/>
          <p:nvPr/>
        </p:nvSpPr>
        <p:spPr>
          <a:xfrm>
            <a:off x="695324" y="1323975"/>
            <a:ext cx="1115377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000" dirty="0">
              <a:latin typeface="Times New Roman"/>
              <a:cs typeface="Calibri" panose="020F0502020204030204"/>
            </a:endParaRPr>
          </a:p>
        </p:txBody>
      </p:sp>
      <p:sp>
        <p:nvSpPr>
          <p:cNvPr id="2" name="TextBox 1">
            <a:extLst>
              <a:ext uri="{FF2B5EF4-FFF2-40B4-BE49-F238E27FC236}">
                <a16:creationId xmlns:a16="http://schemas.microsoft.com/office/drawing/2014/main" id="{E0AF4A40-9C72-C75D-5848-AA1D5B244590}"/>
              </a:ext>
            </a:extLst>
          </p:cNvPr>
          <p:cNvSpPr txBox="1"/>
          <p:nvPr/>
        </p:nvSpPr>
        <p:spPr>
          <a:xfrm>
            <a:off x="3682313" y="90181"/>
            <a:ext cx="5025082" cy="754053"/>
          </a:xfrm>
          <a:prstGeom prst="rect">
            <a:avLst/>
          </a:prstGeom>
          <a:noFill/>
        </p:spPr>
        <p:txBody>
          <a:bodyPr wrap="square" rtlCol="0">
            <a:spAutoFit/>
          </a:bodyPr>
          <a:lstStyle/>
          <a:p>
            <a:r>
              <a:rPr lang="en-US" sz="4300" b="1" dirty="0">
                <a:latin typeface="Times New Roman" panose="02020603050405020304" pitchFamily="18" charset="0"/>
                <a:cs typeface="Times New Roman" panose="02020603050405020304" pitchFamily="18" charset="0"/>
              </a:rPr>
              <a:t>TECH STACK</a:t>
            </a:r>
          </a:p>
        </p:txBody>
      </p:sp>
      <p:graphicFrame>
        <p:nvGraphicFramePr>
          <p:cNvPr id="5" name="Table 4">
            <a:extLst>
              <a:ext uri="{FF2B5EF4-FFF2-40B4-BE49-F238E27FC236}">
                <a16:creationId xmlns:a16="http://schemas.microsoft.com/office/drawing/2014/main" id="{18A9B21E-0310-D762-E3C3-197CBC1F4F5A}"/>
              </a:ext>
            </a:extLst>
          </p:cNvPr>
          <p:cNvGraphicFramePr>
            <a:graphicFrameLocks noGrp="1"/>
          </p:cNvGraphicFramePr>
          <p:nvPr>
            <p:extLst>
              <p:ext uri="{D42A27DB-BD31-4B8C-83A1-F6EECF244321}">
                <p14:modId xmlns:p14="http://schemas.microsoft.com/office/powerpoint/2010/main" val="1448482179"/>
              </p:ext>
            </p:extLst>
          </p:nvPr>
        </p:nvGraphicFramePr>
        <p:xfrm>
          <a:off x="934221" y="1323975"/>
          <a:ext cx="10058400" cy="3291840"/>
        </p:xfrm>
        <a:graphic>
          <a:graphicData uri="http://schemas.openxmlformats.org/drawingml/2006/table">
            <a:tbl>
              <a:tblPr>
                <a:tableStyleId>{5C22544A-7EE6-4342-B048-85BDC9FD1C3A}</a:tableStyleId>
              </a:tblPr>
              <a:tblGrid>
                <a:gridCol w="3352800">
                  <a:extLst>
                    <a:ext uri="{9D8B030D-6E8A-4147-A177-3AD203B41FA5}">
                      <a16:colId xmlns:a16="http://schemas.microsoft.com/office/drawing/2014/main" val="453613274"/>
                    </a:ext>
                  </a:extLst>
                </a:gridCol>
                <a:gridCol w="3352800">
                  <a:extLst>
                    <a:ext uri="{9D8B030D-6E8A-4147-A177-3AD203B41FA5}">
                      <a16:colId xmlns:a16="http://schemas.microsoft.com/office/drawing/2014/main" val="4237219472"/>
                    </a:ext>
                  </a:extLst>
                </a:gridCol>
                <a:gridCol w="3352800">
                  <a:extLst>
                    <a:ext uri="{9D8B030D-6E8A-4147-A177-3AD203B41FA5}">
                      <a16:colId xmlns:a16="http://schemas.microsoft.com/office/drawing/2014/main" val="3220242984"/>
                    </a:ext>
                  </a:extLst>
                </a:gridCol>
              </a:tblGrid>
              <a:tr h="0">
                <a:tc>
                  <a:txBody>
                    <a:bodyPr/>
                    <a:lstStyle/>
                    <a:p>
                      <a:pPr algn="ctr">
                        <a:buNone/>
                      </a:pPr>
                      <a:r>
                        <a:rPr lang="en-US" b="1" dirty="0">
                          <a:latin typeface="Times New Roman" panose="02020603050405020304" pitchFamily="18" charset="0"/>
                          <a:cs typeface="Times New Roman" panose="02020603050405020304" pitchFamily="18" charset="0"/>
                        </a:rPr>
                        <a:t>Layer</a:t>
                      </a:r>
                    </a:p>
                  </a:txBody>
                  <a:tcPr anchor="ctr"/>
                </a:tc>
                <a:tc>
                  <a:txBody>
                    <a:bodyPr/>
                    <a:lstStyle/>
                    <a:p>
                      <a:pPr algn="ctr">
                        <a:buNone/>
                      </a:pPr>
                      <a:r>
                        <a:rPr lang="en-US" b="1" dirty="0">
                          <a:latin typeface="Times New Roman" panose="02020603050405020304" pitchFamily="18" charset="0"/>
                          <a:cs typeface="Times New Roman" panose="02020603050405020304" pitchFamily="18" charset="0"/>
                        </a:rPr>
                        <a:t>Technologies</a:t>
                      </a:r>
                    </a:p>
                  </a:txBody>
                  <a:tcPr anchor="ctr"/>
                </a:tc>
                <a:tc>
                  <a:txBody>
                    <a:bodyPr/>
                    <a:lstStyle/>
                    <a:p>
                      <a:pPr algn="ctr">
                        <a:buNone/>
                      </a:pPr>
                      <a:r>
                        <a:rPr lang="en-US" b="1" dirty="0">
                          <a:latin typeface="Times New Roman" panose="02020603050405020304" pitchFamily="18" charset="0"/>
                          <a:cs typeface="Times New Roman" panose="02020603050405020304" pitchFamily="18" charset="0"/>
                        </a:rPr>
                        <a:t>Purpose</a:t>
                      </a:r>
                    </a:p>
                  </a:txBody>
                  <a:tcPr anchor="ctr"/>
                </a:tc>
                <a:extLst>
                  <a:ext uri="{0D108BD9-81ED-4DB2-BD59-A6C34878D82A}">
                    <a16:rowId xmlns:a16="http://schemas.microsoft.com/office/drawing/2014/main" val="4232964036"/>
                  </a:ext>
                </a:extLst>
              </a:tr>
              <a:tr h="0">
                <a:tc>
                  <a:txBody>
                    <a:bodyPr/>
                    <a:lstStyle/>
                    <a:p>
                      <a:pPr>
                        <a:buNone/>
                      </a:pPr>
                      <a:r>
                        <a:rPr lang="en-US" dirty="0">
                          <a:latin typeface="Times New Roman" panose="02020603050405020304" pitchFamily="18" charset="0"/>
                          <a:cs typeface="Times New Roman" panose="02020603050405020304" pitchFamily="18" charset="0"/>
                        </a:rPr>
                        <a:t>Frontend</a:t>
                      </a:r>
                    </a:p>
                  </a:txBody>
                  <a:tcPr anchor="ctr"/>
                </a:tc>
                <a:tc>
                  <a:txBody>
                    <a:bodyPr/>
                    <a:lstStyle/>
                    <a:p>
                      <a:pPr>
                        <a:buNone/>
                      </a:pPr>
                      <a:r>
                        <a:rPr lang="en-US" dirty="0">
                          <a:latin typeface="Times New Roman" panose="02020603050405020304" pitchFamily="18" charset="0"/>
                          <a:cs typeface="Times New Roman" panose="02020603050405020304" pitchFamily="18" charset="0"/>
                        </a:rPr>
                        <a:t>HTML5, CSS3, JavaScript</a:t>
                      </a:r>
                    </a:p>
                  </a:txBody>
                  <a:tcPr anchor="ctr"/>
                </a:tc>
                <a:tc>
                  <a:txBody>
                    <a:bodyPr/>
                    <a:lstStyle/>
                    <a:p>
                      <a:pPr>
                        <a:buNone/>
                      </a:pPr>
                      <a:r>
                        <a:rPr lang="en-US" dirty="0">
                          <a:latin typeface="Times New Roman" panose="02020603050405020304" pitchFamily="18" charset="0"/>
                          <a:cs typeface="Times New Roman" panose="02020603050405020304" pitchFamily="18" charset="0"/>
                        </a:rPr>
                        <a:t>Structure, styling, and interactions</a:t>
                      </a:r>
                    </a:p>
                  </a:txBody>
                  <a:tcPr anchor="ctr"/>
                </a:tc>
                <a:extLst>
                  <a:ext uri="{0D108BD9-81ED-4DB2-BD59-A6C34878D82A}">
                    <a16:rowId xmlns:a16="http://schemas.microsoft.com/office/drawing/2014/main" val="3917802245"/>
                  </a:ext>
                </a:extLst>
              </a:tr>
              <a:tr h="0">
                <a:tc>
                  <a:txBody>
                    <a:bodyPr/>
                    <a:lstStyle/>
                    <a:p>
                      <a:pPr>
                        <a:buNone/>
                      </a:pPr>
                      <a:r>
                        <a:rPr lang="en-US" dirty="0">
                          <a:latin typeface="Times New Roman" panose="02020603050405020304" pitchFamily="18" charset="0"/>
                          <a:cs typeface="Times New Roman" panose="02020603050405020304" pitchFamily="18" charset="0"/>
                        </a:rPr>
                        <a:t>UI Framework</a:t>
                      </a:r>
                    </a:p>
                  </a:txBody>
                  <a:tcPr anchor="ctr"/>
                </a:tc>
                <a:tc>
                  <a:txBody>
                    <a:bodyPr/>
                    <a:lstStyle/>
                    <a:p>
                      <a:pPr>
                        <a:buNone/>
                      </a:pPr>
                      <a:r>
                        <a:rPr lang="en-US" dirty="0">
                          <a:latin typeface="Times New Roman" panose="02020603050405020304" pitchFamily="18" charset="0"/>
                          <a:cs typeface="Times New Roman" panose="02020603050405020304" pitchFamily="18" charset="0"/>
                        </a:rPr>
                        <a:t>React.js, Bootstrap</a:t>
                      </a:r>
                    </a:p>
                  </a:txBody>
                  <a:tcPr anchor="ctr"/>
                </a:tc>
                <a:tc>
                  <a:txBody>
                    <a:bodyPr/>
                    <a:lstStyle/>
                    <a:p>
                      <a:pPr>
                        <a:buNone/>
                      </a:pPr>
                      <a:r>
                        <a:rPr lang="en-US" dirty="0">
                          <a:latin typeface="Times New Roman" panose="02020603050405020304" pitchFamily="18" charset="0"/>
                          <a:cs typeface="Times New Roman" panose="02020603050405020304" pitchFamily="18" charset="0"/>
                        </a:rPr>
                        <a:t>Responsive pages, components, and dashboards</a:t>
                      </a:r>
                    </a:p>
                  </a:txBody>
                  <a:tcPr anchor="ctr"/>
                </a:tc>
                <a:extLst>
                  <a:ext uri="{0D108BD9-81ED-4DB2-BD59-A6C34878D82A}">
                    <a16:rowId xmlns:a16="http://schemas.microsoft.com/office/drawing/2014/main" val="2640096861"/>
                  </a:ext>
                </a:extLst>
              </a:tr>
              <a:tr h="0">
                <a:tc>
                  <a:txBody>
                    <a:bodyPr/>
                    <a:lstStyle/>
                    <a:p>
                      <a:pPr>
                        <a:buNone/>
                      </a:pPr>
                      <a:r>
                        <a:rPr lang="en-US" dirty="0">
                          <a:latin typeface="Times New Roman" panose="02020603050405020304" pitchFamily="18" charset="0"/>
                          <a:cs typeface="Times New Roman" panose="02020603050405020304" pitchFamily="18" charset="0"/>
                        </a:rPr>
                        <a:t>Backend</a:t>
                      </a:r>
                    </a:p>
                  </a:txBody>
                  <a:tcPr anchor="ctr"/>
                </a:tc>
                <a:tc>
                  <a:txBody>
                    <a:bodyPr/>
                    <a:lstStyle/>
                    <a:p>
                      <a:pPr>
                        <a:buNone/>
                      </a:pPr>
                      <a:r>
                        <a:rPr lang="en-US" dirty="0">
                          <a:latin typeface="Times New Roman" panose="02020603050405020304" pitchFamily="18" charset="0"/>
                          <a:cs typeface="Times New Roman" panose="02020603050405020304" pitchFamily="18" charset="0"/>
                        </a:rPr>
                        <a:t>Java, Spring Boot</a:t>
                      </a:r>
                    </a:p>
                  </a:txBody>
                  <a:tcPr anchor="ctr"/>
                </a:tc>
                <a:tc>
                  <a:txBody>
                    <a:bodyPr/>
                    <a:lstStyle/>
                    <a:p>
                      <a:pPr>
                        <a:buNone/>
                      </a:pPr>
                      <a:r>
                        <a:rPr lang="en-US" dirty="0">
                          <a:latin typeface="Times New Roman" panose="02020603050405020304" pitchFamily="18" charset="0"/>
                          <a:cs typeface="Times New Roman" panose="02020603050405020304" pitchFamily="18" charset="0"/>
                        </a:rPr>
                        <a:t>Business logic and evaluation rules</a:t>
                      </a:r>
                    </a:p>
                  </a:txBody>
                  <a:tcPr anchor="ctr"/>
                </a:tc>
                <a:extLst>
                  <a:ext uri="{0D108BD9-81ED-4DB2-BD59-A6C34878D82A}">
                    <a16:rowId xmlns:a16="http://schemas.microsoft.com/office/drawing/2014/main" val="952350669"/>
                  </a:ext>
                </a:extLst>
              </a:tr>
              <a:tr h="0">
                <a:tc>
                  <a:txBody>
                    <a:bodyPr/>
                    <a:lstStyle/>
                    <a:p>
                      <a:pPr>
                        <a:buNone/>
                      </a:pPr>
                      <a:r>
                        <a:rPr lang="en-US" dirty="0">
                          <a:latin typeface="Times New Roman" panose="02020603050405020304" pitchFamily="18" charset="0"/>
                          <a:cs typeface="Times New Roman" panose="02020603050405020304" pitchFamily="18" charset="0"/>
                        </a:rPr>
                        <a:t>API</a:t>
                      </a:r>
                    </a:p>
                  </a:txBody>
                  <a:tcPr anchor="ctr"/>
                </a:tc>
                <a:tc>
                  <a:txBody>
                    <a:bodyPr/>
                    <a:lstStyle/>
                    <a:p>
                      <a:pPr>
                        <a:buNone/>
                      </a:pPr>
                      <a:r>
                        <a:rPr lang="en-US" dirty="0">
                          <a:latin typeface="Times New Roman" panose="02020603050405020304" pitchFamily="18" charset="0"/>
                          <a:cs typeface="Times New Roman" panose="02020603050405020304" pitchFamily="18" charset="0"/>
                        </a:rPr>
                        <a:t>REST API</a:t>
                      </a:r>
                    </a:p>
                  </a:txBody>
                  <a:tcPr anchor="ctr"/>
                </a:tc>
                <a:tc>
                  <a:txBody>
                    <a:bodyPr/>
                    <a:lstStyle/>
                    <a:p>
                      <a:pPr>
                        <a:buNone/>
                      </a:pPr>
                      <a:r>
                        <a:rPr lang="en-US" dirty="0">
                          <a:latin typeface="Times New Roman" panose="02020603050405020304" pitchFamily="18" charset="0"/>
                          <a:cs typeface="Times New Roman" panose="02020603050405020304" pitchFamily="18" charset="0"/>
                        </a:rPr>
                        <a:t>Communication between frontend and backend</a:t>
                      </a:r>
                    </a:p>
                  </a:txBody>
                  <a:tcPr anchor="ctr"/>
                </a:tc>
                <a:extLst>
                  <a:ext uri="{0D108BD9-81ED-4DB2-BD59-A6C34878D82A}">
                    <a16:rowId xmlns:a16="http://schemas.microsoft.com/office/drawing/2014/main" val="596689086"/>
                  </a:ext>
                </a:extLst>
              </a:tr>
              <a:tr h="0">
                <a:tc>
                  <a:txBody>
                    <a:bodyPr/>
                    <a:lstStyle/>
                    <a:p>
                      <a:pPr>
                        <a:buNone/>
                      </a:pPr>
                      <a:r>
                        <a:rPr lang="en-US" dirty="0">
                          <a:latin typeface="Times New Roman" panose="02020603050405020304" pitchFamily="18" charset="0"/>
                          <a:cs typeface="Times New Roman" panose="02020603050405020304" pitchFamily="18" charset="0"/>
                        </a:rPr>
                        <a:t>Database</a:t>
                      </a:r>
                    </a:p>
                  </a:txBody>
                  <a:tcPr anchor="ctr"/>
                </a:tc>
                <a:tc>
                  <a:txBody>
                    <a:bodyPr/>
                    <a:lstStyle/>
                    <a:p>
                      <a:pPr>
                        <a:buNone/>
                      </a:pPr>
                      <a:r>
                        <a:rPr lang="en-US" dirty="0">
                          <a:latin typeface="Times New Roman" panose="02020603050405020304" pitchFamily="18" charset="0"/>
                          <a:cs typeface="Times New Roman" panose="02020603050405020304" pitchFamily="18" charset="0"/>
                        </a:rPr>
                        <a:t>MySQL</a:t>
                      </a:r>
                    </a:p>
                  </a:txBody>
                  <a:tcPr anchor="ctr"/>
                </a:tc>
                <a:tc>
                  <a:txBody>
                    <a:bodyPr/>
                    <a:lstStyle/>
                    <a:p>
                      <a:pPr>
                        <a:buNone/>
                      </a:pPr>
                      <a:r>
                        <a:rPr lang="en-US" dirty="0">
                          <a:latin typeface="Times New Roman" panose="02020603050405020304" pitchFamily="18" charset="0"/>
                          <a:cs typeface="Times New Roman" panose="02020603050405020304" pitchFamily="18" charset="0"/>
                        </a:rPr>
                        <a:t>Store student records, grades, CGPA, and evaluation history</a:t>
                      </a:r>
                    </a:p>
                  </a:txBody>
                  <a:tcPr anchor="ctr"/>
                </a:tc>
                <a:extLst>
                  <a:ext uri="{0D108BD9-81ED-4DB2-BD59-A6C34878D82A}">
                    <a16:rowId xmlns:a16="http://schemas.microsoft.com/office/drawing/2014/main" val="2981051062"/>
                  </a:ext>
                </a:extLst>
              </a:tr>
            </a:tbl>
          </a:graphicData>
        </a:graphic>
      </p:graphicFrame>
    </p:spTree>
    <p:extLst>
      <p:ext uri="{BB962C8B-B14F-4D97-AF65-F5344CB8AC3E}">
        <p14:creationId xmlns:p14="http://schemas.microsoft.com/office/powerpoint/2010/main" val="31671796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60727-A74A-697F-1F9F-BAD3537676BD}"/>
              </a:ext>
            </a:extLst>
          </p:cNvPr>
          <p:cNvSpPr>
            <a:spLocks noGrp="1"/>
          </p:cNvSpPr>
          <p:nvPr>
            <p:ph type="title" idx="4294967295"/>
          </p:nvPr>
        </p:nvSpPr>
        <p:spPr>
          <a:xfrm>
            <a:off x="539578" y="266486"/>
            <a:ext cx="10058400" cy="563562"/>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ARCHITECTURE</a:t>
            </a:r>
          </a:p>
        </p:txBody>
      </p:sp>
      <p:pic>
        <p:nvPicPr>
          <p:cNvPr id="5" name="Picture 4">
            <a:extLst>
              <a:ext uri="{FF2B5EF4-FFF2-40B4-BE49-F238E27FC236}">
                <a16:creationId xmlns:a16="http://schemas.microsoft.com/office/drawing/2014/main" id="{0B743E5D-5D15-F4DC-9243-49C1099ACC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6670" y="1326415"/>
            <a:ext cx="11112843" cy="3712816"/>
          </a:xfrm>
          <a:prstGeom prst="rect">
            <a:avLst/>
          </a:prstGeom>
        </p:spPr>
      </p:pic>
    </p:spTree>
    <p:extLst>
      <p:ext uri="{BB962C8B-B14F-4D97-AF65-F5344CB8AC3E}">
        <p14:creationId xmlns:p14="http://schemas.microsoft.com/office/powerpoint/2010/main" val="31614896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60727-A74A-697F-1F9F-BAD3537676BD}"/>
              </a:ext>
            </a:extLst>
          </p:cNvPr>
          <p:cNvSpPr>
            <a:spLocks noGrp="1"/>
          </p:cNvSpPr>
          <p:nvPr>
            <p:ph type="title" idx="4294967295"/>
          </p:nvPr>
        </p:nvSpPr>
        <p:spPr>
          <a:xfrm>
            <a:off x="1066800" y="271668"/>
            <a:ext cx="10058400" cy="563562"/>
          </a:xfrm>
        </p:spPr>
        <p:txBody>
          <a:bodyPr>
            <a:normAutofit/>
          </a:bodyPr>
          <a:lstStyle/>
          <a:p>
            <a:pPr algn="ctr"/>
            <a:r>
              <a:rPr lang="en-US" sz="3500" b="1" dirty="0">
                <a:latin typeface="Times New Roman"/>
                <a:cs typeface="Times New Roman"/>
              </a:rPr>
              <a:t>RESULTS</a:t>
            </a:r>
          </a:p>
        </p:txBody>
      </p:sp>
      <p:sp>
        <p:nvSpPr>
          <p:cNvPr id="4" name="TextBox 3">
            <a:extLst>
              <a:ext uri="{FF2B5EF4-FFF2-40B4-BE49-F238E27FC236}">
                <a16:creationId xmlns:a16="http://schemas.microsoft.com/office/drawing/2014/main" id="{289EBF05-D2CC-FB8D-4597-F8162D4479E5}"/>
              </a:ext>
            </a:extLst>
          </p:cNvPr>
          <p:cNvSpPr txBox="1"/>
          <p:nvPr/>
        </p:nvSpPr>
        <p:spPr>
          <a:xfrm>
            <a:off x="816506" y="726779"/>
            <a:ext cx="10749418" cy="5444054"/>
          </a:xfrm>
          <a:prstGeom prst="rect">
            <a:avLst/>
          </a:prstGeom>
          <a:noFill/>
        </p:spPr>
        <p:txBody>
          <a:bodyPr wrap="square">
            <a:spAutoFit/>
          </a:bodyPr>
          <a:lstStyle/>
          <a:p>
            <a:pPr>
              <a:lnSpc>
                <a:spcPct val="150000"/>
              </a:lnSpc>
            </a:pPr>
            <a:r>
              <a:rPr lang="en-US" dirty="0">
                <a:latin typeface="Times New Roman" panose="02020603050405020304" pitchFamily="18" charset="0"/>
                <a:cs typeface="Times New Roman" panose="02020603050405020304" pitchFamily="18" charset="0"/>
              </a:rPr>
              <a:t>The project is expected to achieve the following outcomes:</a:t>
            </a:r>
          </a:p>
          <a:p>
            <a:pPr marL="285750" lvl="0" indent="-285750">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Automated evaluation: Academic records are evaluated according to predefined rules.</a:t>
            </a:r>
          </a:p>
          <a:p>
            <a:pPr marL="285750" lvl="0" indent="-285750">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Improved accuracy: Consistent calculations and rule-based classification reduce manual errors.</a:t>
            </a:r>
          </a:p>
          <a:p>
            <a:pPr marL="285750" lvl="0" indent="-285750">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Early identification: Students who do not meet academic requirements can be identified promptly.</a:t>
            </a:r>
          </a:p>
          <a:p>
            <a:pPr marL="285750" lvl="0" indent="-285750">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Transparent evaluation: Students can understand their academic status and the requirements they have not met.</a:t>
            </a:r>
          </a:p>
          <a:p>
            <a:pPr marL="285750" lvl="0" indent="-285750">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Reduced workload: Administrators spend less time calculating CGPA-based outcomes and preparing reports.</a:t>
            </a:r>
          </a:p>
          <a:p>
            <a:pPr marL="285750" lvl="0" indent="-285750">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Academic progress tracking: Historical records support comparison of student performance across academic years.</a:t>
            </a:r>
          </a:p>
          <a:p>
            <a:pPr marL="285750" lvl="0" indent="-285750">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Better decision-making: Reports help administrators plan academic counseling, probation, and other permitted interventions.</a:t>
            </a:r>
          </a:p>
          <a:p>
            <a:pPr marL="285750" lvl="0" indent="-285750">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Centralized data management: Student information, grades, academic requirements, and evaluation results are maintained in one system.</a:t>
            </a:r>
          </a:p>
          <a:p>
            <a:pPr>
              <a:lnSpc>
                <a:spcPct val="150000"/>
              </a:lnSpc>
              <a:buClr>
                <a:srgbClr val="C00000"/>
              </a:buClr>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39552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5ECB6-5E5E-59F5-B123-F8352D0F17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E4A944-007A-A077-F42D-767008A3B28B}"/>
              </a:ext>
            </a:extLst>
          </p:cNvPr>
          <p:cNvSpPr>
            <a:spLocks noGrp="1"/>
          </p:cNvSpPr>
          <p:nvPr>
            <p:ph type="title" idx="4294967295"/>
          </p:nvPr>
        </p:nvSpPr>
        <p:spPr>
          <a:xfrm>
            <a:off x="740503" y="254794"/>
            <a:ext cx="10058400" cy="563562"/>
          </a:xfrm>
        </p:spPr>
        <p:txBody>
          <a:bodyPr>
            <a:normAutofit/>
          </a:bodyPr>
          <a:lstStyle/>
          <a:p>
            <a:pPr algn="ctr"/>
            <a:r>
              <a:rPr lang="en-US" sz="3500" b="1" dirty="0">
                <a:latin typeface="Times New Roman"/>
                <a:cs typeface="Times New Roman"/>
              </a:rPr>
              <a:t>REFERENCE</a:t>
            </a:r>
          </a:p>
        </p:txBody>
      </p:sp>
      <p:sp>
        <p:nvSpPr>
          <p:cNvPr id="4" name="TextBox 3">
            <a:extLst>
              <a:ext uri="{FF2B5EF4-FFF2-40B4-BE49-F238E27FC236}">
                <a16:creationId xmlns:a16="http://schemas.microsoft.com/office/drawing/2014/main" id="{9FDEED19-56C7-C914-88BA-4858275D61C2}"/>
              </a:ext>
            </a:extLst>
          </p:cNvPr>
          <p:cNvSpPr txBox="1"/>
          <p:nvPr/>
        </p:nvSpPr>
        <p:spPr>
          <a:xfrm>
            <a:off x="637659" y="1183932"/>
            <a:ext cx="11153775" cy="378206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lvl="0" indent="-342900">
              <a:lnSpc>
                <a:spcPct val="150000"/>
              </a:lnSpc>
              <a:buFont typeface="+mj-lt"/>
              <a:buAutoNum type="arabicPeriod"/>
            </a:pPr>
            <a:r>
              <a:rPr lang="en-US" dirty="0">
                <a:latin typeface="Times New Roman" panose="02020603050405020304" pitchFamily="18" charset="0"/>
                <a:cs typeface="Times New Roman" panose="02020603050405020304" pitchFamily="18" charset="0"/>
              </a:rPr>
              <a:t>Oracle. Java Documentation. </a:t>
            </a:r>
            <a:r>
              <a:rPr lang="en-US" dirty="0">
                <a:latin typeface="Times New Roman" panose="02020603050405020304" pitchFamily="18" charset="0"/>
                <a:cs typeface="Times New Roman" panose="02020603050405020304" pitchFamily="18" charset="0"/>
                <a:hlinkClick r:id="rId2"/>
              </a:rPr>
              <a:t>https://docs.oracle.com/en/java/</a:t>
            </a:r>
            <a:endParaRPr lang="en-US" dirty="0">
              <a:latin typeface="Times New Roman" panose="02020603050405020304" pitchFamily="18" charset="0"/>
              <a:cs typeface="Times New Roman" panose="02020603050405020304" pitchFamily="18" charset="0"/>
            </a:endParaRPr>
          </a:p>
          <a:p>
            <a:pPr marL="342900" lvl="0" indent="-342900">
              <a:lnSpc>
                <a:spcPct val="150000"/>
              </a:lnSpc>
              <a:buFont typeface="+mj-lt"/>
              <a:buAutoNum type="arabicPeriod"/>
            </a:pPr>
            <a:r>
              <a:rPr lang="en-US" dirty="0">
                <a:latin typeface="Times New Roman" panose="02020603050405020304" pitchFamily="18" charset="0"/>
                <a:cs typeface="Times New Roman" panose="02020603050405020304" pitchFamily="18" charset="0"/>
              </a:rPr>
              <a:t>Spring. Spring Boot Reference Documentation. </a:t>
            </a:r>
            <a:r>
              <a:rPr lang="en-US" dirty="0">
                <a:latin typeface="Times New Roman" panose="02020603050405020304" pitchFamily="18" charset="0"/>
                <a:cs typeface="Times New Roman" panose="02020603050405020304" pitchFamily="18" charset="0"/>
                <a:hlinkClick r:id="rId3"/>
              </a:rPr>
              <a:t>https://docs.spring.io/spring-boot/</a:t>
            </a:r>
            <a:endParaRPr lang="en-US" dirty="0">
              <a:latin typeface="Times New Roman" panose="02020603050405020304" pitchFamily="18" charset="0"/>
              <a:cs typeface="Times New Roman" panose="02020603050405020304" pitchFamily="18" charset="0"/>
            </a:endParaRPr>
          </a:p>
          <a:p>
            <a:pPr marL="342900" lvl="0" indent="-342900">
              <a:lnSpc>
                <a:spcPct val="150000"/>
              </a:lnSpc>
              <a:buFont typeface="+mj-lt"/>
              <a:buAutoNum type="arabicPeriod"/>
            </a:pPr>
            <a:r>
              <a:rPr lang="en-US" dirty="0">
                <a:latin typeface="Times New Roman" panose="02020603050405020304" pitchFamily="18" charset="0"/>
                <a:cs typeface="Times New Roman" panose="02020603050405020304" pitchFamily="18" charset="0"/>
              </a:rPr>
              <a:t>MySQL. MySQL Reference Manual. </a:t>
            </a:r>
            <a:r>
              <a:rPr lang="en-US" dirty="0">
                <a:latin typeface="Times New Roman" panose="02020603050405020304" pitchFamily="18" charset="0"/>
                <a:cs typeface="Times New Roman" panose="02020603050405020304" pitchFamily="18" charset="0"/>
                <a:hlinkClick r:id="rId4"/>
              </a:rPr>
              <a:t>https://dev.mysql.com/doc/</a:t>
            </a:r>
            <a:endParaRPr lang="en-US" dirty="0">
              <a:latin typeface="Times New Roman" panose="02020603050405020304" pitchFamily="18" charset="0"/>
              <a:cs typeface="Times New Roman" panose="02020603050405020304" pitchFamily="18" charset="0"/>
            </a:endParaRPr>
          </a:p>
          <a:p>
            <a:pPr marL="342900" lvl="0" indent="-342900">
              <a:lnSpc>
                <a:spcPct val="150000"/>
              </a:lnSpc>
              <a:buFont typeface="+mj-lt"/>
              <a:buAutoNum type="arabicPeriod"/>
            </a:pPr>
            <a:r>
              <a:rPr lang="en-US" dirty="0">
                <a:latin typeface="Times New Roman" panose="02020603050405020304" pitchFamily="18" charset="0"/>
                <a:cs typeface="Times New Roman" panose="02020603050405020304" pitchFamily="18" charset="0"/>
              </a:rPr>
              <a:t>React. React Documentation. </a:t>
            </a:r>
            <a:r>
              <a:rPr lang="en-US" dirty="0">
                <a:latin typeface="Times New Roman" panose="02020603050405020304" pitchFamily="18" charset="0"/>
                <a:cs typeface="Times New Roman" panose="02020603050405020304" pitchFamily="18" charset="0"/>
                <a:hlinkClick r:id="rId5"/>
              </a:rPr>
              <a:t>https://react.dev/</a:t>
            </a:r>
            <a:endParaRPr lang="en-US" dirty="0">
              <a:latin typeface="Times New Roman" panose="02020603050405020304" pitchFamily="18" charset="0"/>
              <a:cs typeface="Times New Roman" panose="02020603050405020304" pitchFamily="18" charset="0"/>
            </a:endParaRPr>
          </a:p>
          <a:p>
            <a:pPr marL="342900" lvl="0" indent="-342900">
              <a:lnSpc>
                <a:spcPct val="150000"/>
              </a:lnSpc>
              <a:buFont typeface="+mj-lt"/>
              <a:buAutoNum type="arabicPeriod"/>
            </a:pPr>
            <a:r>
              <a:rPr lang="en-US" dirty="0">
                <a:latin typeface="Times New Roman" panose="02020603050405020304" pitchFamily="18" charset="0"/>
                <a:cs typeface="Times New Roman" panose="02020603050405020304" pitchFamily="18" charset="0"/>
              </a:rPr>
              <a:t>MDN Web Docs. HTML, CSS, and JavaScript Documentation. </a:t>
            </a:r>
            <a:r>
              <a:rPr lang="en-US" dirty="0">
                <a:latin typeface="Times New Roman" panose="02020603050405020304" pitchFamily="18" charset="0"/>
                <a:cs typeface="Times New Roman" panose="02020603050405020304" pitchFamily="18" charset="0"/>
                <a:hlinkClick r:id="rId6"/>
              </a:rPr>
              <a:t>https://developer.mozilla.org/</a:t>
            </a:r>
            <a:endParaRPr lang="en-US" dirty="0">
              <a:latin typeface="Times New Roman" panose="02020603050405020304" pitchFamily="18" charset="0"/>
              <a:cs typeface="Times New Roman" panose="02020603050405020304" pitchFamily="18" charset="0"/>
            </a:endParaRPr>
          </a:p>
          <a:p>
            <a:pPr marL="342900" lvl="0" indent="-342900">
              <a:lnSpc>
                <a:spcPct val="150000"/>
              </a:lnSpc>
              <a:buFont typeface="+mj-lt"/>
              <a:buAutoNum type="arabicPeriod"/>
            </a:pPr>
            <a:r>
              <a:rPr lang="en-US" dirty="0">
                <a:latin typeface="Times New Roman" panose="02020603050405020304" pitchFamily="18" charset="0"/>
                <a:cs typeface="Times New Roman" panose="02020603050405020304" pitchFamily="18" charset="0"/>
              </a:rPr>
              <a:t>Bootstrap. Bootstrap Documentation. </a:t>
            </a:r>
            <a:r>
              <a:rPr lang="en-US" dirty="0">
                <a:latin typeface="Times New Roman" panose="02020603050405020304" pitchFamily="18" charset="0"/>
                <a:cs typeface="Times New Roman" panose="02020603050405020304" pitchFamily="18" charset="0"/>
                <a:hlinkClick r:id="rId7"/>
              </a:rPr>
              <a:t>https://getbootstrap.com/docs/</a:t>
            </a:r>
            <a:endParaRPr lang="en-US" dirty="0">
              <a:latin typeface="Times New Roman" panose="02020603050405020304" pitchFamily="18" charset="0"/>
              <a:cs typeface="Times New Roman" panose="02020603050405020304" pitchFamily="18" charset="0"/>
            </a:endParaRPr>
          </a:p>
          <a:p>
            <a:pPr marL="342900" lvl="0" indent="-342900">
              <a:lnSpc>
                <a:spcPct val="150000"/>
              </a:lnSpc>
              <a:buFont typeface="+mj-lt"/>
              <a:buAutoNum type="arabicPeriod"/>
            </a:pPr>
            <a:r>
              <a:rPr lang="en-US" dirty="0">
                <a:latin typeface="Times New Roman" panose="02020603050405020304" pitchFamily="18" charset="0"/>
                <a:cs typeface="Times New Roman" panose="02020603050405020304" pitchFamily="18" charset="0"/>
              </a:rPr>
              <a:t>Postman. Postman Documentation. </a:t>
            </a:r>
            <a:r>
              <a:rPr lang="en-US" dirty="0">
                <a:latin typeface="Times New Roman" panose="02020603050405020304" pitchFamily="18" charset="0"/>
                <a:cs typeface="Times New Roman" panose="02020603050405020304" pitchFamily="18" charset="0"/>
                <a:hlinkClick r:id="rId8"/>
              </a:rPr>
              <a:t>https://learning.postman.com/docs/</a:t>
            </a:r>
            <a:endParaRPr lang="en-US" dirty="0">
              <a:latin typeface="Times New Roman" panose="02020603050405020304" pitchFamily="18" charset="0"/>
              <a:cs typeface="Times New Roman" panose="02020603050405020304" pitchFamily="18" charset="0"/>
            </a:endParaRPr>
          </a:p>
          <a:p>
            <a:pPr marL="342900" lvl="0" indent="-342900">
              <a:lnSpc>
                <a:spcPct val="150000"/>
              </a:lnSpc>
              <a:buFont typeface="+mj-lt"/>
              <a:buAutoNum type="arabicPeriod"/>
            </a:pPr>
            <a:r>
              <a:rPr lang="en-US" dirty="0">
                <a:latin typeface="Times New Roman" panose="02020603050405020304" pitchFamily="18" charset="0"/>
                <a:cs typeface="Times New Roman" panose="02020603050405020304" pitchFamily="18" charset="0"/>
              </a:rPr>
              <a:t>GitHub. GitHub Documentation. </a:t>
            </a:r>
            <a:r>
              <a:rPr lang="en-US" dirty="0">
                <a:latin typeface="Times New Roman" panose="02020603050405020304" pitchFamily="18" charset="0"/>
                <a:cs typeface="Times New Roman" panose="02020603050405020304" pitchFamily="18" charset="0"/>
                <a:hlinkClick r:id="rId9"/>
              </a:rPr>
              <a:t>https://docs.github.com/</a:t>
            </a:r>
            <a:endParaRPr lang="en-US"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36988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60727-A74A-697F-1F9F-BAD3537676BD}"/>
              </a:ext>
            </a:extLst>
          </p:cNvPr>
          <p:cNvSpPr>
            <a:spLocks noGrp="1"/>
          </p:cNvSpPr>
          <p:nvPr>
            <p:ph type="title" idx="4294967295"/>
          </p:nvPr>
        </p:nvSpPr>
        <p:spPr>
          <a:xfrm>
            <a:off x="535460" y="2463157"/>
            <a:ext cx="10058400" cy="563562"/>
          </a:xfrm>
        </p:spPr>
        <p:txBody>
          <a:bodyPr>
            <a:noAutofit/>
          </a:bodyPr>
          <a:lstStyle/>
          <a:p>
            <a:pPr algn="ctr"/>
            <a:r>
              <a:rPr lang="en-US" sz="4000" b="1" dirty="0">
                <a:latin typeface="Times New Roman"/>
                <a:cs typeface="Times New Roman"/>
              </a:rPr>
              <a:t>THANK YOU</a:t>
            </a:r>
          </a:p>
        </p:txBody>
      </p:sp>
      <p:sp>
        <p:nvSpPr>
          <p:cNvPr id="4" name="TextBox 3">
            <a:extLst>
              <a:ext uri="{FF2B5EF4-FFF2-40B4-BE49-F238E27FC236}">
                <a16:creationId xmlns:a16="http://schemas.microsoft.com/office/drawing/2014/main" id="{D656250E-BA25-39F2-857C-995E7D4905D6}"/>
              </a:ext>
            </a:extLst>
          </p:cNvPr>
          <p:cNvSpPr txBox="1"/>
          <p:nvPr/>
        </p:nvSpPr>
        <p:spPr>
          <a:xfrm>
            <a:off x="695324" y="1323975"/>
            <a:ext cx="1115377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000" dirty="0">
              <a:latin typeface="Times New Roman"/>
              <a:cs typeface="Calibri" panose="020F0502020204030204"/>
            </a:endParaRPr>
          </a:p>
        </p:txBody>
      </p:sp>
    </p:spTree>
    <p:extLst>
      <p:ext uri="{BB962C8B-B14F-4D97-AF65-F5344CB8AC3E}">
        <p14:creationId xmlns:p14="http://schemas.microsoft.com/office/powerpoint/2010/main" val="2626750339"/>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02006FA4-1611-4B07-AF7F-85CF6D20EB3E}"/>
    </a:ext>
  </a:extLst>
</a:theme>
</file>

<file path=docProps/app.xml><?xml version="1.0" encoding="utf-8"?>
<Properties xmlns="http://schemas.openxmlformats.org/officeDocument/2006/extended-properties" xmlns:vt="http://schemas.openxmlformats.org/officeDocument/2006/docPropsVTypes">
  <Template>Retrospect</Template>
  <TotalTime>203</TotalTime>
  <Words>836</Words>
  <Application>Microsoft Office PowerPoint</Application>
  <PresentationFormat>Widescreen</PresentationFormat>
  <Paragraphs>73</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Calibri</vt:lpstr>
      <vt:lpstr>Calibri Light</vt:lpstr>
      <vt:lpstr>Times New Roman</vt:lpstr>
      <vt:lpstr>Wingdings</vt:lpstr>
      <vt:lpstr>Retrospect</vt:lpstr>
      <vt:lpstr>WEB PROGRAMMING</vt:lpstr>
      <vt:lpstr>ABSTRACT</vt:lpstr>
      <vt:lpstr>PROBLEM STATEMENT</vt:lpstr>
      <vt:lpstr>PROPOSED SYSTEM</vt:lpstr>
      <vt:lpstr>              OBJECTIVES</vt:lpstr>
      <vt:lpstr>PowerPoint Presentation</vt:lpstr>
      <vt:lpstr>ARCHITECTURE</vt:lpstr>
      <vt:lpstr>RESULTS</vt:lpstr>
      <vt:lpstr>REFERENCE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c:creator>
  <cp:lastModifiedBy>rathinavel.tr73@outlook.com</cp:lastModifiedBy>
  <cp:revision>110</cp:revision>
  <dcterms:created xsi:type="dcterms:W3CDTF">2019-10-16T03:03:10Z</dcterms:created>
  <dcterms:modified xsi:type="dcterms:W3CDTF">2026-10-13T16:19:59Z</dcterms:modified>
</cp:coreProperties>
</file>